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58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61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 Models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5 Lightweight VLMs for Food Ingredient Recognition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657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17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 ·  GIT  ·  SmolVLM  ·  nanoVLM  ·  TinyVLM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Images  ·  Fruits · Vegetables · Spices · Dry Fruits · Pulses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AC91C8-294E-E4C7-4F99-C70317A87A59}"/>
              </a:ext>
            </a:extLst>
          </p:cNvPr>
          <p:cNvSpPr txBox="1"/>
          <p:nvPr/>
        </p:nvSpPr>
        <p:spPr>
          <a:xfrm>
            <a:off x="7382450" y="4594740"/>
            <a:ext cx="157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8F8F6"/>
                </a:solidFill>
                <a:effectLst/>
                <a:latin typeface="Anthropic Sans"/>
              </a:rPr>
              <a:t>Vishwa Keerthi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Models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45920" cy="3474720"/>
          </a:xfrm>
          <a:prstGeom prst="roundRect">
            <a:avLst>
              <a:gd name="adj" fmla="val 5556"/>
            </a:avLst>
          </a:prstGeom>
          <a:solidFill>
            <a:srgbClr val="F0F9FB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1645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Language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Pretraining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2066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Salesforce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" y="2359152"/>
            <a:ext cx="1426464" cy="256032"/>
          </a:xfrm>
          <a:prstGeom prst="roundRect">
            <a:avLst>
              <a:gd name="adj" fmla="val 17857"/>
            </a:avLst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68296"/>
            <a:ext cx="14264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~450 MB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2688336"/>
            <a:ext cx="151790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captioning model. Direct, precise — rarely wrong. Best for clear ingredient naming.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03120" y="914400"/>
            <a:ext cx="1645920" cy="3474720"/>
          </a:xfrm>
          <a:prstGeom prst="roundRect">
            <a:avLst>
              <a:gd name="adj" fmla="val 5556"/>
            </a:avLst>
          </a:prstGeom>
          <a:solidFill>
            <a:srgbClr val="F0F9FB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914400"/>
            <a:ext cx="1645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932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14447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Image-to-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Transformer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48840" y="2066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Microsoft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12848" y="2359152"/>
            <a:ext cx="1426464" cy="256032"/>
          </a:xfrm>
          <a:prstGeom prst="roundRect">
            <a:avLst>
              <a:gd name="adj" fmla="val 17857"/>
            </a:avLst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2368296"/>
            <a:ext cx="14264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MB–1.2 GB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67128" y="2688336"/>
            <a:ext cx="151790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captions but sometimes hallucinates extra objects not in the image.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0" y="914400"/>
            <a:ext cx="1645920" cy="3474720"/>
          </a:xfrm>
          <a:prstGeom prst="roundRect">
            <a:avLst>
              <a:gd name="adj" fmla="val 5556"/>
            </a:avLst>
          </a:prstGeom>
          <a:solidFill>
            <a:srgbClr val="F0F9FB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914400"/>
            <a:ext cx="1645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932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14447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SmolVLM-256M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86200" y="2066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HuggingFace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50208" y="2359152"/>
            <a:ext cx="1426464" cy="256032"/>
          </a:xfrm>
          <a:prstGeom prst="roundRect">
            <a:avLst>
              <a:gd name="adj" fmla="val 17857"/>
            </a:avLst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0208" y="2368296"/>
            <a:ext cx="14264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~256 MB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04488" y="2688336"/>
            <a:ext cx="151790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prompts. Very compact yet accurate — highest total score in our tests.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914400"/>
            <a:ext cx="1645920" cy="3474720"/>
          </a:xfrm>
          <a:prstGeom prst="roundRect">
            <a:avLst>
              <a:gd name="adj" fmla="val 5556"/>
            </a:avLst>
          </a:prstGeom>
          <a:solidFill>
            <a:srgbClr val="F0F9FB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914400"/>
            <a:ext cx="1645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932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3560" y="14447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nanoVLM-222M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23560" y="2066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Community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87568" y="2359152"/>
            <a:ext cx="1426464" cy="256032"/>
          </a:xfrm>
          <a:prstGeom prst="roundRect">
            <a:avLst>
              <a:gd name="adj" fmla="val 17857"/>
            </a:avLst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2368296"/>
            <a:ext cx="14264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~222 MB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41848" y="2688336"/>
            <a:ext cx="151790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model tested. Outputs often vague, cut off, or unrelated to the image.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0" y="914400"/>
            <a:ext cx="1645920" cy="3474720"/>
          </a:xfrm>
          <a:prstGeom prst="roundRect">
            <a:avLst>
              <a:gd name="adj" fmla="val 5556"/>
            </a:avLst>
          </a:prstGeom>
          <a:solidFill>
            <a:srgbClr val="F0F9FB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0" y="914400"/>
            <a:ext cx="1645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932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60920" y="14447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MiniGPT-4 family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60920" y="2066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Academic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24928" y="2359152"/>
            <a:ext cx="1426464" cy="256032"/>
          </a:xfrm>
          <a:prstGeom prst="roundRect">
            <a:avLst>
              <a:gd name="adj" fmla="val 17857"/>
            </a:avLst>
          </a:prstGeom>
          <a:solidFill>
            <a:srgbClr val="E0F2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24928" y="2368296"/>
            <a:ext cx="14264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~0.6–1 GB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79208" y="2688336"/>
            <a:ext cx="151790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separately. Includes MiniGPT-4 Lite, LLaVA-Lite, Shikra. ~60–70%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Brown Mustard Seeds</a:t>
            </a:r>
            <a:endParaRPr lang="en-US" sz="2200" dirty="0"/>
          </a:p>
        </p:txBody>
      </p:sp>
      <p:pic>
        <p:nvPicPr>
          <p:cNvPr id="5" name="Image 0" descr="/home/claude/imgs/Brown_Mustard_Se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black beans on a white background"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small brown seeds on a white background"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"Brown mustard seeds"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"seeds in a bowl it is a"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"mustard seeds / small dark seeds in a bowl"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Carrots (Whole)</a:t>
            </a:r>
            <a:endParaRPr lang="en-US" sz="2200" dirty="0"/>
          </a:p>
        </p:txBody>
      </p:sp>
      <p:pic>
        <p:nvPicPr>
          <p:cNvPr id="5" name="Image 0" descr="/home/claude/imgs/carro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bunch of carrots with green stems"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bunch of carrots are sitting in a wooden box"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"Carrots"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"carrots orange vegetable green"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"carrots / bunch of fresh carrots"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Cherry Tomatoes</a:t>
            </a:r>
            <a:endParaRPr lang="en-US" sz="2200" dirty="0"/>
          </a:p>
        </p:txBody>
      </p:sp>
      <p:pic>
        <p:nvPicPr>
          <p:cNvPr id="5" name="Image 0" descr="/home/claude/imgs/cherry_tomato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cherry tomatoes on a wooden table"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tomatoes on a table"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"Cherry tomatoes"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"tomatoes red bowl small it"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"cherry tomatoes / small red tomatoes in a bowl"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Chilli &amp; Chilli Cuts</a:t>
            </a:r>
            <a:endParaRPr lang="en-US" sz="2200" dirty="0"/>
          </a:p>
        </p:txBody>
      </p:sp>
      <p:pic>
        <p:nvPicPr>
          <p:cNvPr id="5" name="Image 0" descr="/home/claude/imgs/chilli_and_chilli_cu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 peppers on a wooden cutting board"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group of green peppers on a cutting board with a knife"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 chillies"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 pepper vegetable cut"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 chillies / green peppers on a cutting board"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Chopped Carrots</a:t>
            </a:r>
            <a:endParaRPr lang="en-US" sz="2200" dirty="0"/>
          </a:p>
        </p:txBody>
      </p:sp>
      <p:pic>
        <p:nvPicPr>
          <p:cNvPr id="5" name="Image 0" descr="/home/claude/imgs/chopped_carro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sliced carrots on a table"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glass bowl full of sliced carrots"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"Chopped carrots"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"carrots orange sliced bowl"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"carrots / sliced orange carrots in a glass bowl"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Chopped Tomatoes</a:t>
            </a:r>
            <a:endParaRPr lang="en-US" sz="2200" dirty="0"/>
          </a:p>
        </p:txBody>
      </p:sp>
      <p:pic>
        <p:nvPicPr>
          <p:cNvPr id="5" name="Image 0" descr="/home/claude/imgs/chopped_tomato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"sliced tomatoes in a blue bowl"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sliced tomatoes on a table with a cloth"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"Sliced tomatoes"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"tomatoes red sliced bowl"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"tomatoes / sliced red tomatoes in a bowl"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Cinnamon</a:t>
            </a:r>
            <a:endParaRPr lang="en-US" sz="2200" dirty="0"/>
          </a:p>
        </p:txBody>
      </p:sp>
      <p:pic>
        <p:nvPicPr>
          <p:cNvPr id="5" name="Image 0" descr="/home/claude/imgs/cinnam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group of cinnamon sticks on a white background"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"cinnamon sticks and cinnamon powder on a white background"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"Cinnamon sticks and powder"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"sticks brown spice powder"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"cinnamon / cinnamon sticks with ground powder"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Fruit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Dry Fig</a:t>
            </a:r>
            <a:endParaRPr lang="en-US" sz="2200" dirty="0"/>
          </a:p>
        </p:txBody>
      </p:sp>
      <p:pic>
        <p:nvPicPr>
          <p:cNvPr id="5" name="Image 0" descr="/home/claude/imgs/dry_fi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dried figs on a black background"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white bowl filled with dried fruit on a black background"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"Dried figs"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"figs dried bowl round"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"dried figs / dry figs in a white bowl"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Green Cardamom</a:t>
            </a:r>
            <a:endParaRPr lang="en-US" sz="2200" dirty="0"/>
          </a:p>
        </p:txBody>
      </p:sp>
      <p:pic>
        <p:nvPicPr>
          <p:cNvPr id="5" name="Image 0" descr="/home/claude/imgs/green_Cardamon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group of green seeds on a white background"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pile of green seeds on a white background"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 cardamom pods"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"seeds green spice pods"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"cardamom / green cardamom pods"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Fruit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Mixed Almonds &amp; Cashews</a:t>
            </a:r>
            <a:endParaRPr lang="en-US" sz="2200" dirty="0"/>
          </a:p>
        </p:txBody>
      </p:sp>
      <p:pic>
        <p:nvPicPr>
          <p:cNvPr id="5" name="Image 0" descr="/home/claude/imgs/mixed_almonds_and_cashew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mixed nuts on a white background"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almonds and cashews on a white background"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"Mixed almonds and cashews"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"nuts mixed almonds cashews"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"mixed nuts / almonds and cashews in a bowl"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Mixed Citrus Fruits</a:t>
            </a:r>
            <a:endParaRPr lang="en-US" sz="2200" dirty="0"/>
          </a:p>
        </p:txBody>
      </p:sp>
      <p:pic>
        <p:nvPicPr>
          <p:cNvPr id="5" name="Image 0" descr="/home/claude/imgs/mixed_citrus_frui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oranges and limes on a table"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wooden bowl filled with oranges lemons and limes"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"Mixed citrus fruits — oranges, lemons, and limes"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"fruits orange green citrus"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"citrus fruits / oranges lemons and limes in a bowl"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Mixed Vegetables</a:t>
            </a:r>
            <a:endParaRPr lang="en-US" sz="2200" dirty="0"/>
          </a:p>
        </p:txBody>
      </p:sp>
      <p:pic>
        <p:nvPicPr>
          <p:cNvPr id="5" name="Image 0" descr="/home/claude/imgs/mixed_veggi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bunch of fresh vegetables on a marble surface"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variety of fresh vegetables on a white background including carrots onion garlic"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"Mixed vegetables: carrots, onion, garlic, and celery"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"vegetables mixed carrots onion"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"mixed vegetables / assorted vegetables on a marble table"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Orange (Mandarin)</a:t>
            </a:r>
            <a:endParaRPr lang="en-US" sz="2200" dirty="0"/>
          </a:p>
        </p:txBody>
      </p:sp>
      <p:pic>
        <p:nvPicPr>
          <p:cNvPr id="5" name="Image 0" descr="/home/claude/imgs/oran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 orange and a peeled orange on a white background"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 orange and orange slices on a white background"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"Mandarin orange / tangerine"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 fruit peeled segments"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 / mandarin orange peeled and whole"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Spice Powders</a:t>
            </a:r>
            <a:endParaRPr lang="en-US" sz="2200" dirty="0"/>
          </a:p>
        </p:txBody>
      </p:sp>
      <p:pic>
        <p:nvPicPr>
          <p:cNvPr id="5" name="Image 0" descr="/home/claude/imgs/powder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"three bowls of spices on a white background"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"three glass bowls of spices on a white background"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"Spice powders — chilli, turmeric, and cumin/coriander"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"powder spices bowls three"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"spice powders / three bowls of ground spices"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Fruit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Raisins</a:t>
            </a:r>
            <a:endParaRPr lang="en-US" sz="2200" dirty="0"/>
          </a:p>
        </p:txBody>
      </p:sp>
      <p:pic>
        <p:nvPicPr>
          <p:cNvPr id="5" name="Image 0" descr="/home/claude/imgs/raisi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2743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46120" y="594360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594360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6492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235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bowl of raisins on a black background"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07592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07592"/>
            <a:ext cx="73152" cy="667512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624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136245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6367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white bowl filled with golden raisins on a black background"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2020824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2020824"/>
            <a:ext cx="73152" cy="667512"/>
          </a:xfrm>
          <a:prstGeom prst="roundRect">
            <a:avLst>
              <a:gd name="adj" fmla="val 37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075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89120" y="2075688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83280" y="2350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"Raisins / dried grapes"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34056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46120" y="2734056"/>
            <a:ext cx="73152" cy="667512"/>
          </a:xfrm>
          <a:prstGeom prst="roundRect">
            <a:avLst>
              <a:gd name="adj" fmla="val 3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27889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389120" y="278892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3063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"raisins dried fruit bowl"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46120" y="3447288"/>
            <a:ext cx="5577840" cy="667512"/>
          </a:xfrm>
          <a:prstGeom prst="roundRect">
            <a:avLst>
              <a:gd name="adj" fmla="val 9589"/>
            </a:avLst>
          </a:prstGeom>
          <a:solidFill>
            <a:srgbClr val="FAFAFA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46120" y="3447288"/>
            <a:ext cx="73152" cy="667512"/>
          </a:xfrm>
          <a:prstGeom prst="roundRect">
            <a:avLst>
              <a:gd name="adj" fmla="val 375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502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83280" y="3776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"raisins / golden raisins in a white bowl"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391363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   ⚠️ Partial   ❌ Wrong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Identifications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VLM_types.xlsx — number of correct identifications per food category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051560"/>
            <a:ext cx="109728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51560"/>
            <a:ext cx="13716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51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9144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051560"/>
            <a:ext cx="109728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Fruits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051560"/>
            <a:ext cx="9144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051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051560"/>
            <a:ext cx="9144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051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15087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15087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08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5087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15087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15087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1508760"/>
            <a:ext cx="914400" cy="457200"/>
          </a:xfrm>
          <a:prstGeom prst="rect">
            <a:avLst/>
          </a:prstGeom>
          <a:solidFill>
            <a:srgbClr val="E0F2F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77440" y="1965960"/>
            <a:ext cx="109728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0" y="1965960"/>
            <a:ext cx="137160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1965960"/>
            <a:ext cx="91440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0720" y="1965960"/>
            <a:ext cx="109728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1965960"/>
            <a:ext cx="91440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72400" y="1965960"/>
            <a:ext cx="914400" cy="457200"/>
          </a:xfrm>
          <a:prstGeom prst="rect">
            <a:avLst/>
          </a:prstGeom>
          <a:solidFill>
            <a:srgbClr val="E0F2F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242316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77440" y="24231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74720" y="24231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24231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760720" y="242316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0" y="242316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772400" y="2423160"/>
            <a:ext cx="914400" cy="457200"/>
          </a:xfrm>
          <a:prstGeom prst="rect">
            <a:avLst/>
          </a:prstGeom>
          <a:solidFill>
            <a:srgbClr val="E0F2F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57200" y="2880360"/>
            <a:ext cx="192024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2880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377440" y="2880360"/>
            <a:ext cx="109728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77440" y="2880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474720" y="2880360"/>
            <a:ext cx="137160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46320" y="2880360"/>
            <a:ext cx="91440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760720" y="2880360"/>
            <a:ext cx="109728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0720" y="2880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858000" y="2880360"/>
            <a:ext cx="914400" cy="457200"/>
          </a:xfrm>
          <a:prstGeom prst="rect">
            <a:avLst/>
          </a:prstGeom>
          <a:solidFill>
            <a:srgbClr val="F0F9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772400" y="2880360"/>
            <a:ext cx="914400" cy="457200"/>
          </a:xfrm>
          <a:prstGeom prst="rect">
            <a:avLst/>
          </a:prstGeom>
          <a:solidFill>
            <a:srgbClr val="E0F2F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03365" y="3493661"/>
            <a:ext cx="7354390" cy="254726"/>
          </a:xfrm>
          <a:prstGeom prst="roundRect">
            <a:avLst>
              <a:gd name="adj" fmla="val 12308"/>
            </a:avLst>
          </a:prstGeom>
          <a:solidFill>
            <a:srgbClr val="FFF8E1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03365" y="3492918"/>
            <a:ext cx="7968343" cy="248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TinyVLM (MiniGPT-4 Lite, LLaVA-Lite, Shikra) was tested separately in tinyvlm.ipynb on a different image set. Overall accuracy ~60–70%.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22069" y="3749040"/>
            <a:ext cx="84647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Ranking — Ingredient Identification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67791" y="4133088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0F9FB"/>
          </a:solidFill>
          <a:ln/>
        </p:spPr>
      </p:sp>
      <p:sp>
        <p:nvSpPr>
          <p:cNvPr id="78" name="Text 76"/>
          <p:cNvSpPr/>
          <p:nvPr/>
        </p:nvSpPr>
        <p:spPr>
          <a:xfrm>
            <a:off x="322655" y="416966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BLIP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22655" y="444398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direct and precise, rarely wrong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023439" y="4133088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0F9FB"/>
          </a:solidFill>
          <a:ln/>
        </p:spPr>
      </p:sp>
      <p:sp>
        <p:nvSpPr>
          <p:cNvPr id="81" name="Text 79"/>
          <p:cNvSpPr/>
          <p:nvPr/>
        </p:nvSpPr>
        <p:spPr>
          <a:xfrm>
            <a:off x="2078303" y="416966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SmolVLM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078303" y="444398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accurate but sometimes adds extra context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779087" y="4133088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0F9FB"/>
          </a:solidFill>
          <a:ln/>
        </p:spPr>
      </p:sp>
      <p:sp>
        <p:nvSpPr>
          <p:cNvPr id="84" name="Text 82"/>
          <p:cNvSpPr/>
          <p:nvPr/>
        </p:nvSpPr>
        <p:spPr>
          <a:xfrm>
            <a:off x="3833951" y="416966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nanoVLM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833951" y="444398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score but outputs vague or cut off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534735" y="4133088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0F9FB"/>
          </a:solidFill>
          <a:ln/>
        </p:spPr>
      </p:sp>
      <p:sp>
        <p:nvSpPr>
          <p:cNvPr id="87" name="Text 85"/>
          <p:cNvSpPr/>
          <p:nvPr/>
        </p:nvSpPr>
        <p:spPr>
          <a:xfrm>
            <a:off x="5589599" y="416966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 GIT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589599" y="444398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but hallucinates extra objects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290383" y="4133088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0F9FB"/>
          </a:solidFill>
          <a:ln/>
        </p:spPr>
      </p:sp>
      <p:sp>
        <p:nvSpPr>
          <p:cNvPr id="90" name="Text 88"/>
          <p:cNvSpPr/>
          <p:nvPr/>
        </p:nvSpPr>
        <p:spPr>
          <a:xfrm>
            <a:off x="7345247" y="4169664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 TinyVLM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345247" y="444398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quality (~65%), tested separately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29260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>
              <a:alpha val="13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1st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05156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SmolVLM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1051560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051560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— follows instructions, very compact (256 MB), rarely adds extra objects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10512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2nd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810512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810512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22/37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1810512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precise per-image — no hallucination, direct ingredient naming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6946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3rd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569464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nanoVLM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2569464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569464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numbers but outputs are vague, often cut off mid-sentence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28416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328416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54680" y="3328416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17/37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3328416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but hallucinates — adds tables, napkins, bowls that aren't there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08736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4087368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TinyVLM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4087368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0" y="408736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separately on different images; quality varies a lot by variant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097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For compact food ingredient recognition, SmolVLM and BLIP offer the best accuracy-to-size ratio among sub-1 GB models.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1423</Words>
  <Application>Microsoft Office PowerPoint</Application>
  <PresentationFormat>On-screen Show (16:9)</PresentationFormat>
  <Paragraphs>395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Anthropic Sans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VLM Comparison — All Images</dc:title>
  <dc:subject>PptxGenJS Presentation</dc:subject>
  <dc:creator>PptxGenJS</dc:creator>
  <cp:lastModifiedBy>vishwa keerthi</cp:lastModifiedBy>
  <cp:revision>2</cp:revision>
  <dcterms:created xsi:type="dcterms:W3CDTF">2026-06-11T10:10:38Z</dcterms:created>
  <dcterms:modified xsi:type="dcterms:W3CDTF">2026-06-11T10:19:52Z</dcterms:modified>
</cp:coreProperties>
</file>